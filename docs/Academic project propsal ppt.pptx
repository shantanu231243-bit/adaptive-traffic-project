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Inter" panose="020B0604020202020204" charset="0"/>
      <p:regular r:id="rId10"/>
    </p:embeddedFont>
    <p:embeddedFont>
      <p:font typeface="Petrona Bold" panose="020B0604020202020204" charset="0"/>
      <p:regular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C3E98C-A794-4D8B-AB47-BEB75F28B0D9}" v="9" dt="2026-07-29T16:14:02.4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52" autoAdjust="0"/>
    <p:restoredTop sz="94610"/>
  </p:normalViewPr>
  <p:slideViewPr>
    <p:cSldViewPr snapToGrid="0" snapToObjects="1">
      <p:cViewPr>
        <p:scale>
          <a:sx n="87" d="100"/>
          <a:sy n="87" d="100"/>
        </p:scale>
        <p:origin x="51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8068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720949"/>
            <a:ext cx="6296860" cy="186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ADAPTIVE URBAN TRAFFIC SIGNAL OPTIMIZATION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61475" y="3865066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Artificial Intelligence and Computer Vision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61475" y="4380111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AMAN | SHANTANU | PRIYANSHU – B.Sc.(H) Computer Science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61475" y="4895155"/>
            <a:ext cx="6906444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Proposal - Academic Project 2025-26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361877"/>
            <a:ext cx="6296860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Problem Statement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5233360" y="2141538"/>
            <a:ext cx="6296860" cy="3354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Delhi roads have mixed traffic - car, bike, auto, e-rickshaw, bus, animal at same signal without lane discipline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Locations: Govind Puri, Kalkaji, Sarita Vihar crossing has heavy rush morning 8-10 and evening 5-8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timer signal 30 sec green wastes time when one side empty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low cost methods using ultrasonic and RFID only detect presence, not vehicle type, need tag in ambulance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Foreign YOLO models use datasets without auto rickshaw class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Gap: No Indian dataset + YOLOv8 + adaptive logic + real Delhi testing combined</a:t>
            </a:r>
            <a:endParaRPr lang="en-US" sz="14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1BB466-6BD3-BE48-E1D7-A2415AB50F18}"/>
              </a:ext>
            </a:extLst>
          </p:cNvPr>
          <p:cNvSpPr/>
          <p:nvPr/>
        </p:nvSpPr>
        <p:spPr>
          <a:xfrm>
            <a:off x="10972800" y="6530196"/>
            <a:ext cx="1167005" cy="30241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0448"/>
            <a:ext cx="10868745" cy="471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Literature Summary (6 papers only)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796111" y="1542951"/>
            <a:ext cx="25399" cy="4584502"/>
          </a:xfrm>
          <a:prstGeom prst="roundRect">
            <a:avLst>
              <a:gd name="adj" fmla="val 50001"/>
            </a:avLst>
          </a:prstGeom>
          <a:solidFill>
            <a:srgbClr val="B2D4E5"/>
          </a:solidFill>
          <a:ln/>
        </p:spPr>
      </p:sp>
      <p:sp>
        <p:nvSpPr>
          <p:cNvPr id="4" name="Shape 2"/>
          <p:cNvSpPr/>
          <p:nvPr/>
        </p:nvSpPr>
        <p:spPr>
          <a:xfrm>
            <a:off x="770712" y="1732260"/>
            <a:ext cx="359064" cy="25400"/>
          </a:xfrm>
          <a:prstGeom prst="roundRect">
            <a:avLst>
              <a:gd name="adj" fmla="val 49999"/>
            </a:avLst>
          </a:prstGeom>
          <a:solidFill>
            <a:srgbClr val="B2D4E5"/>
          </a:solidFill>
          <a:ln/>
        </p:spPr>
      </p:sp>
      <p:sp>
        <p:nvSpPr>
          <p:cNvPr id="5" name="Shape 3"/>
          <p:cNvSpPr/>
          <p:nvPr/>
        </p:nvSpPr>
        <p:spPr>
          <a:xfrm>
            <a:off x="728793" y="1677640"/>
            <a:ext cx="134636" cy="134640"/>
          </a:xfrm>
          <a:prstGeom prst="ellipse">
            <a:avLst/>
          </a:prstGeom>
          <a:solidFill>
            <a:srgbClr val="007EBD"/>
          </a:solidFill>
          <a:ln/>
        </p:spPr>
      </p:sp>
      <p:sp>
        <p:nvSpPr>
          <p:cNvPr id="6" name="Text 4"/>
          <p:cNvSpPr/>
          <p:nvPr/>
        </p:nvSpPr>
        <p:spPr>
          <a:xfrm>
            <a:off x="1514338" y="1601291"/>
            <a:ext cx="10015882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Zhang et al. 2022 - Improved YOLOv5 with Flip-Mosaic, CIoU/SIoU loss, 90.5% mAP50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0712" y="2414488"/>
            <a:ext cx="359064" cy="25400"/>
          </a:xfrm>
          <a:prstGeom prst="roundRect">
            <a:avLst>
              <a:gd name="adj" fmla="val 49999"/>
            </a:avLst>
          </a:prstGeom>
          <a:solidFill>
            <a:srgbClr val="B2D4E5"/>
          </a:solidFill>
          <a:ln/>
        </p:spPr>
      </p:sp>
      <p:sp>
        <p:nvSpPr>
          <p:cNvPr id="8" name="Shape 6"/>
          <p:cNvSpPr/>
          <p:nvPr/>
        </p:nvSpPr>
        <p:spPr>
          <a:xfrm>
            <a:off x="728793" y="2359868"/>
            <a:ext cx="134636" cy="134640"/>
          </a:xfrm>
          <a:prstGeom prst="ellipse">
            <a:avLst/>
          </a:prstGeom>
          <a:solidFill>
            <a:srgbClr val="007EBD"/>
          </a:solidFill>
          <a:ln/>
        </p:spPr>
      </p:sp>
      <p:sp>
        <p:nvSpPr>
          <p:cNvPr id="9" name="Text 7"/>
          <p:cNvSpPr/>
          <p:nvPr/>
        </p:nvSpPr>
        <p:spPr>
          <a:xfrm>
            <a:off x="1514338" y="2283520"/>
            <a:ext cx="10015882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DriveIndia 2024 IIT Hyderabad - 66986 images, 24 classes including auto, e-rickshaw, ambulance, pothole, animal, YOLOv8 benchmark 78.7% mAP50, auto 94% AP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0712" y="3374132"/>
            <a:ext cx="359064" cy="25400"/>
          </a:xfrm>
          <a:prstGeom prst="roundRect">
            <a:avLst>
              <a:gd name="adj" fmla="val 49999"/>
            </a:avLst>
          </a:prstGeom>
          <a:solidFill>
            <a:srgbClr val="B2D4E5"/>
          </a:solidFill>
          <a:ln/>
        </p:spPr>
      </p:sp>
      <p:sp>
        <p:nvSpPr>
          <p:cNvPr id="11" name="Shape 9"/>
          <p:cNvSpPr/>
          <p:nvPr/>
        </p:nvSpPr>
        <p:spPr>
          <a:xfrm>
            <a:off x="728793" y="3319512"/>
            <a:ext cx="134636" cy="134640"/>
          </a:xfrm>
          <a:prstGeom prst="ellipse">
            <a:avLst/>
          </a:prstGeom>
          <a:solidFill>
            <a:srgbClr val="007EBD"/>
          </a:solidFill>
          <a:ln/>
        </p:spPr>
      </p:sp>
      <p:sp>
        <p:nvSpPr>
          <p:cNvPr id="12" name="Text 10"/>
          <p:cNvSpPr/>
          <p:nvPr/>
        </p:nvSpPr>
        <p:spPr>
          <a:xfrm>
            <a:off x="1514338" y="3243163"/>
            <a:ext cx="10015882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Doria et al. 2025 Colombia - Compared YOLOv3 vs v5 vs v8 on 135k frames real junction, YOLOv5 best 0.63 mAP, car 0.94 AP best, bicycle/truck 0.22 low due to less data, cloudy best 0.85 AP, sunny worst 0.66 due to shadows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0712" y="4333776"/>
            <a:ext cx="359064" cy="25400"/>
          </a:xfrm>
          <a:prstGeom prst="roundRect">
            <a:avLst>
              <a:gd name="adj" fmla="val 49999"/>
            </a:avLst>
          </a:prstGeom>
          <a:solidFill>
            <a:srgbClr val="B2D4E5"/>
          </a:solidFill>
          <a:ln/>
        </p:spPr>
      </p:sp>
      <p:sp>
        <p:nvSpPr>
          <p:cNvPr id="14" name="Shape 12"/>
          <p:cNvSpPr/>
          <p:nvPr/>
        </p:nvSpPr>
        <p:spPr>
          <a:xfrm>
            <a:off x="728793" y="4279156"/>
            <a:ext cx="134636" cy="134640"/>
          </a:xfrm>
          <a:prstGeom prst="ellipse">
            <a:avLst/>
          </a:prstGeom>
          <a:solidFill>
            <a:srgbClr val="007EBD"/>
          </a:solidFill>
          <a:ln/>
        </p:spPr>
      </p:sp>
      <p:sp>
        <p:nvSpPr>
          <p:cNvPr id="15" name="Text 13"/>
          <p:cNvSpPr/>
          <p:nvPr/>
        </p:nvSpPr>
        <p:spPr>
          <a:xfrm>
            <a:off x="1514338" y="4202807"/>
            <a:ext cx="10015882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Kumareshan et al. 2025 EUDL - Adaptive control using YOLOv4-tiny + counting + digital pheromone (traffic pheromone = current jam, intention pheromone = future route), base framework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0712" y="5293420"/>
            <a:ext cx="359064" cy="25400"/>
          </a:xfrm>
          <a:prstGeom prst="roundRect">
            <a:avLst>
              <a:gd name="adj" fmla="val 49999"/>
            </a:avLst>
          </a:prstGeom>
          <a:solidFill>
            <a:srgbClr val="B2D4E5"/>
          </a:solidFill>
          <a:ln/>
        </p:spPr>
      </p:sp>
      <p:sp>
        <p:nvSpPr>
          <p:cNvPr id="17" name="Shape 15"/>
          <p:cNvSpPr/>
          <p:nvPr/>
        </p:nvSpPr>
        <p:spPr>
          <a:xfrm>
            <a:off x="728793" y="5238800"/>
            <a:ext cx="134636" cy="134640"/>
          </a:xfrm>
          <a:prstGeom prst="ellipse">
            <a:avLst/>
          </a:prstGeom>
          <a:solidFill>
            <a:srgbClr val="007EBD"/>
          </a:solidFill>
          <a:ln/>
        </p:spPr>
      </p:sp>
      <p:sp>
        <p:nvSpPr>
          <p:cNvPr id="18" name="Text 16"/>
          <p:cNvSpPr/>
          <p:nvPr/>
        </p:nvSpPr>
        <p:spPr>
          <a:xfrm>
            <a:off x="1514338" y="5162451"/>
            <a:ext cx="10015882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IJNRD 2023 - Arduino + ultrasonic density based signal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0712" y="5975648"/>
            <a:ext cx="359064" cy="25400"/>
          </a:xfrm>
          <a:prstGeom prst="roundRect">
            <a:avLst>
              <a:gd name="adj" fmla="val 49999"/>
            </a:avLst>
          </a:prstGeom>
          <a:solidFill>
            <a:srgbClr val="B2D4E5"/>
          </a:solidFill>
          <a:ln/>
        </p:spPr>
      </p:sp>
      <p:sp>
        <p:nvSpPr>
          <p:cNvPr id="20" name="Shape 18"/>
          <p:cNvSpPr/>
          <p:nvPr/>
        </p:nvSpPr>
        <p:spPr>
          <a:xfrm>
            <a:off x="728793" y="5921028"/>
            <a:ext cx="134636" cy="134640"/>
          </a:xfrm>
          <a:prstGeom prst="ellipse">
            <a:avLst/>
          </a:prstGeom>
          <a:solidFill>
            <a:srgbClr val="007EBD"/>
          </a:solidFill>
          <a:ln/>
        </p:spPr>
      </p:sp>
      <p:sp>
        <p:nvSpPr>
          <p:cNvPr id="21" name="Text 19"/>
          <p:cNvSpPr/>
          <p:nvPr/>
        </p:nvSpPr>
        <p:spPr>
          <a:xfrm>
            <a:off x="1514338" y="5844679"/>
            <a:ext cx="10015882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JETIR 2023 - IoT + RFID for emergency vehicle priority</a:t>
            </a:r>
            <a:endParaRPr lang="en-US" sz="14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1414169-3E2B-4A31-F6CD-6DBF146A2256}"/>
              </a:ext>
            </a:extLst>
          </p:cNvPr>
          <p:cNvSpPr/>
          <p:nvPr/>
        </p:nvSpPr>
        <p:spPr>
          <a:xfrm>
            <a:off x="10972800" y="6530196"/>
            <a:ext cx="1167005" cy="30241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1855"/>
            <a:ext cx="10868745" cy="446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Detection Output &amp; Observations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00274"/>
            <a:ext cx="5220867" cy="47335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9660" y="2124472"/>
            <a:ext cx="5226911" cy="4733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While doing detection of Delhi traffic with YOLO there are anomalies in heterogenous traffic</a:t>
            </a:r>
          </a:p>
          <a:p>
            <a:pPr algn="l">
              <a:lnSpc>
                <a:spcPct val="127000"/>
              </a:lnSpc>
              <a:buSzPct val="100000"/>
            </a:pPr>
            <a:endParaRPr lang="en-US" sz="145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Overlapping bounding boxes in dense traffic</a:t>
            </a:r>
          </a:p>
          <a:p>
            <a:pPr algn="l">
              <a:lnSpc>
                <a:spcPct val="127000"/>
              </a:lnSpc>
              <a:buSzPct val="100000"/>
            </a:pPr>
            <a:endParaRPr lang="en-US" sz="145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far vehicles missed</a:t>
            </a:r>
          </a:p>
          <a:p>
            <a:pPr algn="l">
              <a:lnSpc>
                <a:spcPct val="127000"/>
              </a:lnSpc>
              <a:buSzPct val="100000"/>
            </a:pPr>
            <a:endParaRPr lang="en-US" sz="145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 and e-rickshaw confusion due to similar shape</a:t>
            </a:r>
            <a:endParaRPr lang="en-US" sz="145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Shadow and sunlight affect detection</a:t>
            </a:r>
          </a:p>
          <a:p>
            <a:pPr algn="l">
              <a:lnSpc>
                <a:spcPct val="127000"/>
              </a:lnSpc>
              <a:buSzPct val="100000"/>
            </a:pPr>
            <a:endParaRPr lang="en-US" sz="145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anomalies will be handled in fine-tuning</a:t>
            </a:r>
            <a:endParaRPr lang="en-US" sz="14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B3A24A-E608-BE05-C9DC-3815D97E7FFB}"/>
              </a:ext>
            </a:extLst>
          </p:cNvPr>
          <p:cNvSpPr/>
          <p:nvPr/>
        </p:nvSpPr>
        <p:spPr>
          <a:xfrm>
            <a:off x="10972800" y="6530196"/>
            <a:ext cx="1167005" cy="30241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4937"/>
            <a:ext cx="10868745" cy="421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Proposed Methodology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567" y="1299766"/>
            <a:ext cx="8942561" cy="33556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50017" y="3697914"/>
            <a:ext cx="1348779" cy="545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Adaptive Logic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150186" y="3697914"/>
            <a:ext cx="1348779" cy="545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Vehicle Counting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59593" y="3697914"/>
            <a:ext cx="1348779" cy="545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YOLOv8n Training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769000" y="3834326"/>
            <a:ext cx="1348779" cy="272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Annotation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041455" y="3697914"/>
            <a:ext cx="1348779" cy="545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Collection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61475" y="4809034"/>
            <a:ext cx="10868745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Collection (500 images from Govind Puri, Kalkaji, Sarita Vihar) -&gt; Annotation in LabelImg YOLO format -&gt; YOLOv8n Training in Google Colab (Flip-Mosaic, CIoU loss) -&gt; Vehicle Counting per lane -&gt; Adaptive Logic Green = 15 sec base + 2 sec * count, ambulance priority -&gt; Testing in SUMO + Real Video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61475" y="5675809"/>
            <a:ext cx="10868745" cy="577255"/>
          </a:xfrm>
          <a:prstGeom prst="roundRect">
            <a:avLst>
              <a:gd name="adj" fmla="val 11690"/>
            </a:avLst>
          </a:prstGeom>
          <a:solidFill>
            <a:srgbClr val="CCEE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106" y="5894685"/>
            <a:ext cx="200814" cy="160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3551" y="5852418"/>
            <a:ext cx="1079562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open source free tools only - YOLOv8, Colab, SUMO, LabelImg. Keep broad so can adapt as per mentor expertise.</a:t>
            </a:r>
            <a:endParaRPr lang="en-US" sz="12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D6068A-6CFF-F4FA-32CA-EB4759EC451D}"/>
              </a:ext>
            </a:extLst>
          </p:cNvPr>
          <p:cNvSpPr/>
          <p:nvPr/>
        </p:nvSpPr>
        <p:spPr>
          <a:xfrm>
            <a:off x="10990053" y="6487064"/>
            <a:ext cx="1138687" cy="31055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69578"/>
            <a:ext cx="10868745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Expected Outcomes &amp; Novelty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661475" y="1943795"/>
            <a:ext cx="2575357" cy="2023864"/>
          </a:xfrm>
          <a:prstGeom prst="roundRect">
            <a:avLst>
              <a:gd name="adj" fmla="val 3923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139156"/>
            <a:ext cx="2184643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56832" y="2562622"/>
            <a:ext cx="218464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Solves classification problem ultrasonic cannot do - can tell auto vs e-rickshaw vs bike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425839" y="1943795"/>
            <a:ext cx="2575456" cy="2023864"/>
          </a:xfrm>
          <a:prstGeom prst="roundRect">
            <a:avLst>
              <a:gd name="adj" fmla="val 3923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21195" y="2139156"/>
            <a:ext cx="2184742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3621195" y="2562622"/>
            <a:ext cx="218474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Solves dataset problem - uses Indian DriveIndia plus own Delhi images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90301" y="1943795"/>
            <a:ext cx="2575456" cy="2023864"/>
          </a:xfrm>
          <a:prstGeom prst="roundRect">
            <a:avLst>
              <a:gd name="adj" fmla="val 3923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5658" y="2139156"/>
            <a:ext cx="2184742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385658" y="2562622"/>
            <a:ext cx="218474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existing CCTV, no extra RFID hardware needed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954764" y="1943795"/>
            <a:ext cx="2575456" cy="2023864"/>
          </a:xfrm>
          <a:prstGeom prst="roundRect">
            <a:avLst>
              <a:gd name="adj" fmla="val 3923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50121" y="2139156"/>
            <a:ext cx="2184742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150121" y="2562622"/>
            <a:ext cx="218474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open source free tools, any student can reproduce, can be made public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61475" y="4156670"/>
            <a:ext cx="10868745" cy="1116608"/>
          </a:xfrm>
          <a:prstGeom prst="roundRect">
            <a:avLst>
              <a:gd name="adj" fmla="val 7110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6832" y="4352032"/>
            <a:ext cx="10478032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856832" y="4775498"/>
            <a:ext cx="1047803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prototype not just toy model, can be tested at one crossing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1475" y="548590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Outcome: System that takes traffic video, detects with boxes, counts lane wise, suggests adaptive green time.</a:t>
            </a:r>
            <a:endParaRPr lang="en-US" sz="14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0BBBDDD-D722-9EE3-E448-F49C462EC56A}"/>
              </a:ext>
            </a:extLst>
          </p:cNvPr>
          <p:cNvSpPr/>
          <p:nvPr/>
        </p:nvSpPr>
        <p:spPr>
          <a:xfrm>
            <a:off x="10972800" y="6530196"/>
            <a:ext cx="1167005" cy="30241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2845"/>
            <a:ext cx="10868745" cy="421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Work Plan &amp; References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661475" y="1455936"/>
            <a:ext cx="5238421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Work Plan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61475" y="1855986"/>
            <a:ext cx="5238421" cy="1521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Aman - System integration and model training and final documentation</a:t>
            </a:r>
            <a:endParaRPr lang="en-US" sz="14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endParaRPr lang="en-US" sz="1450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Shantanu - Testing and deployment and performance evaluation</a:t>
            </a:r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endParaRPr lang="en-US" sz="1450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4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Priyanshu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Data collection from and annotation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298149" y="1455936"/>
            <a:ext cx="5238421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References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298149" y="1855985"/>
            <a:ext cx="5238421" cy="2080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Zhang et al. 2022 Improved YOLOv5</a:t>
            </a:r>
            <a:endParaRPr lang="en-US" sz="14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DriveIndia 2024 IIT Hyderabad 67k images</a:t>
            </a:r>
            <a:endParaRPr lang="en-US" sz="14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Doria et al. 2025 Future Transportation MDPI</a:t>
            </a:r>
            <a:endParaRPr lang="en-US" sz="14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Kumareshan et al. 2025 EUDL EAI</a:t>
            </a:r>
            <a:endParaRPr lang="en-US" sz="14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IJNRD 2023 Vol 8 Issue 4</a:t>
            </a:r>
            <a:endParaRPr lang="en-US" sz="14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JETIR 2023 Vol 10 Issue 6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61475" y="4054872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61475" y="4267597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61475" y="4710113"/>
            <a:ext cx="10868745" cy="145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5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Thank You</a:t>
            </a:r>
            <a:endParaRPr lang="en-US" sz="45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4CCDAE-F077-1938-F15D-C5575FBBB3B0}"/>
              </a:ext>
            </a:extLst>
          </p:cNvPr>
          <p:cNvSpPr/>
          <p:nvPr/>
        </p:nvSpPr>
        <p:spPr>
          <a:xfrm>
            <a:off x="11102196" y="6495691"/>
            <a:ext cx="1089804" cy="36230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7EBD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621</Words>
  <Application>Microsoft Office PowerPoint</Application>
  <PresentationFormat>Widescreen</PresentationFormat>
  <Paragraphs>71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Inter</vt:lpstr>
      <vt:lpstr>Petrona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Aman Khatnawlia</dc:creator>
  <cp:lastModifiedBy>Aman Khatnawlia</cp:lastModifiedBy>
  <cp:revision>2</cp:revision>
  <dcterms:created xsi:type="dcterms:W3CDTF">2026-07-29T16:05:48Z</dcterms:created>
  <dcterms:modified xsi:type="dcterms:W3CDTF">2026-07-29T16:20:51Z</dcterms:modified>
</cp:coreProperties>
</file>